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0"/>
            <a:ext cx="411480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1795760" y="0"/>
            <a:ext cx="365760" cy="68580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TOOLING FOR ENTERPRISE BTP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BTP Architecture</a:t>
            </a:r>
            <a:endParaRPr lang="en-US" sz="6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Governance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11-app advisory arsenal that turns governance reviews into running dashboards your customers keep.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5852160"/>
            <a:ext cx="365760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IAS · Subaccount · Clean Core · BTP AI Services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governance gap your customers don't know they have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505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37360"/>
            <a:ext cx="295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BTP customers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95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answer "who can deploy to production" without manually walking the cockpit.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8160" y="1463040"/>
            <a:ext cx="3505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2480" y="1737360"/>
            <a:ext cx="295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€127K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4602480" y="292608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annual waste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02480" y="3474720"/>
            <a:ext cx="295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idle subaccount entitlements per global account at €100M+ revenue customers.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9120" y="1463040"/>
            <a:ext cx="3505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73440" y="1737360"/>
            <a:ext cx="295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mo.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8473440" y="292608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 window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73440" y="3474720"/>
            <a:ext cx="295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 misconfigured IAS trust and the access-review incident that surfaces it.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5321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 gives them the platform. SAP does not give them the operational visibility to run it.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leave a PDF behind. We leave running dashboards.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EA on-site or remote. Open the apps against the customer's tenant in front of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56616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Scorecard runs against their landscape. Findings are concrete, not opinion.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4652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rules and baselines live in the workshop. Snapshot before-state.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98280" y="1554480"/>
            <a:ext cx="26060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98280" y="155448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326880" y="2331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over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0" y="2971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apps running in their tenant. Snapshot after-state at the next QBR.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advisory ends when the deck closes. Ours ends when the customer rebuilds their cockpit on what we shipped them.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ARSENAL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apps. 4 tiers of fit. One MTA shape.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Subaccount Lifecycle &amp; Drift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IMPLEMENTED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14700" y="155448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75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975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&amp; Connectivity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975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IMPLEMENTED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72200" y="1554480"/>
            <a:ext cx="2674620" cy="1402080"/>
          </a:xfrm>
          <a:prstGeom prst="rect">
            <a:avLst/>
          </a:prstGeom>
          <a:solidFill>
            <a:srgbClr val="1E2761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550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Scorecard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IP CENTERPIECE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29700" y="155448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12580" y="16916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212580" y="210312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Federation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12580" y="257251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Role-Collection &amp; Identity Map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147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975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4975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 &amp; Change Inventory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4975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722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3550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Optimization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550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IMPLEMENTED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029700" y="313944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12580" y="32766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212580" y="368808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AI Services Governance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12580" y="415747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IMPLEMENTED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72440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861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40080" y="527304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Config &amp; Cert Expiry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57424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IMPLEMENTED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14700" y="472440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97580" y="4861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497580" y="527304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Allocation &amp; Showback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497580" y="57424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IMPLEMENTED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4724400"/>
            <a:ext cx="2674620" cy="1402080"/>
          </a:xfrm>
          <a:prstGeom prst="rect">
            <a:avLst/>
          </a:prstGeom>
          <a:solidFill>
            <a:srgbClr val="1E2761"/>
          </a:solidFill>
          <a:ln w="9525">
            <a:solidFill>
              <a:srgbClr val="6474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4861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5273040"/>
            <a:ext cx="23088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Core Compliance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355080" y="5742432"/>
            <a:ext cx="2308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· IMPLEMENTED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▆ All 11 apps implemented    ★ IP centerpiece    ▎ Tier color (1 coral · 2 gold · 3 ice · 4 grey)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UNIVERSAL OPENER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Subaccount Lifecycle &amp; Drift Tracker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1-lifecyc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day-1 demo every engagement opens with — "show me my real estate."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inventory of every subaccount via CIS Accounts API.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timestamps from Audit Log Retrieval — flags 90+ day inactive.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detection: labels, service instances, role-collections vs tier baseline.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inferred from labels (prod / qa / dev) with override per subaccount.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cannot answer "what subaccounts do we have, and which can be turned off?" without this.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idle subaccounts within 5 minutes — typical first-week saving: €15-40K/yr.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single-source-of-truth inventory their cockpit doesn't give them.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HIGHEST INSIGHT-PER-EFFORT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 &amp; Connectivity Inventory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2-destin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destination across every subaccount with risk scoring — basic auth, expiring certs, dangling targets.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every subaccount's destination service via SUBACCOUNT_KEYS.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x509 certificate content (Certificates[].Content) for expiry dates.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BasicAuth-in-prod, certs &lt;14d, certs &lt;60d.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 workflow with snooze-until — preserves audit trail.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customer has 200+ destinations and zero visibility — guaranteed material findings on day one.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the cert-expiry incident before it takes prod down.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ROI for the security review conversation.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IP CENTERPIECE · TIER 1 · HIGHEST MARGIN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Compliance Scorecard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3-score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codified governance opinion, running on the customer's real data, exporting the engagement deck.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with 4 evaluators + 6 baseline rules out of the box.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Per-subaccount A/B/C/D/F grading; overall global-account score.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ScoreAdmin can edit rules in the workshop — tuned ruleset stays with the customer.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persistence enables "before vs after" deliverable at every QBR.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to copy — codifies *your* IP, not SAP's.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the engagement's headline slide. Justifies the engagement on its 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extraordinarily well: tweak a rule live, watch grade change in real time.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SECURITY/COMPLIANCE BUYER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CIS/IAS Identity Federation Health Check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4-ident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silent failures in IAS↔XSUAA federation — surfaced before they become an audit finding.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configurations enumerated per subaccount with cert expiry parsing.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Application list with MFA-enforcement detection per app.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SCIM dormant-user detection (90+ days from custom lastLogin extension).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TRUST_CERT_EXPIRING, MFA_MISSING_ON_ADMIN_APP, DORMANT_USER.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the #1 audit finding in BTP reviews — you arrive with the data already laid out.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into CISOs and security architects, not just platform admins.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with app #5 to close the "who can do what" question end-to-end.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"WHO CAN DEPLOY TO PROD"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Role-Collection &amp; Identity Map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5-role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× Role-Collection × Subaccount cross-tab with toxic-combo detection. Most customers cannot answer this — and now they have to.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every subaccount's XSUAA Authorization API for RC enumeration + per-RC user lists.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Email-keyed cross-tabulation aggregates "the same human" across tenants.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baseline toxic-combo policies: prod-dev admin, prod-dev deployer, admin-and-auditor.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assignment drill-down dialog. Admin can author new policies in-app.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Sellable as a standalone deliverable — one report scoped purely around access governance.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committees pay for the report this app generates in one click.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compliance-hour question that haunts every BTP customer over €1B revenue.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COMPLIANCE-DRIVEN ENGAGEMENTS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Audit-Log &amp; Change Inventory Console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6-auditl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change timeline across subaccounts. The deliverable a SOX walkthrough is built around.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Audit Log Retrieval Service + cTMS deployment history + Cloud Transport Management.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actor, action, resource type. Exportable for SOX/ISO/internal audit.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 admin role granted outside change window, after-hours deploys.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naturally with app #1 — same Audit Log binding, different lens.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headline deliverable for compliance-driven engagements.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Customer's internal-audit team becomes a recurring stakeholder.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build time: 1 week using shared srv/lib.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CFO-TIER ROI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Entitlement &amp; License Optimization Advisor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7-entitl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ROI for the renewal conversation. Gives procurement a number; gives you the next engagement.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Entitlements + UAS 12-24 month utilization history.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"Approaching renewal" highlighting; downgrade recommendations with €/yr saving.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BTPbilling: temporal not snapshot — sees the whole curve.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extension of BTPbilling skeleton — fastest tier-2 build.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and CFO become economic buyers, not just IT.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finding: €X00K/yr in headroom optimization.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self-funds inside one renewal cycle.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2026 CISO BUDGET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BTP AI Services Governance Console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8-aigover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are people actually doing with GenAI?" — the question every CISO is being asked in board meetings.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Hub orchestration prompts deployed where, by whom.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spend by subaccount/team/cost-center.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Content-filter &amp; data-masking config per scenario.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alerts; prohibited-data egress detection.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wedge for AI-curious CIOs with fresh budget.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with the AI swarm offering for full-stack AI governance.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engineering risk: AI Core APIs still maturing — built when an engagement specifically scopes it.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09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INCIDENT PREVENTION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Config &amp; Cert Expiry Console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09-ce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certificate across the BTP landscape with rotation owner, blast radius, and acknowledgement workflow.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from destinations, IAS SAML/OIDC, XSUAA trust configs, cTMS keys.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ladder: notice (90d) → warn (30d) → critical (14d) → expired.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Per-engagement rotation-owner registry maps cert patterns to named humans.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Acknowledge-until workflow suppresses noise during planned rotation windows.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the kind of incident that becomes a referral story.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Universally relevant — every BTP customer has an expiring cert they don't know about.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Word-of-mouth multiplier: prevents one incident, sells the next three engagements.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10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CFO CONVERSATION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Landscape Cost-Allocation &amp; Showback Engine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10-costall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Moves the CFO from "show me costs" to "approved, here's the chargeback policy."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cost tree: BU → product → environment → subaccount.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Per-cost-center invoices generated from CIS labels.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shared-service allocation (XSUAA, audit log, IAS) with split rules.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beyond BTPbilling's subaccount-flat view — full chargeback semantics.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Approval-grade reporting for IT chargeback to the business.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justifies the engagement on its own.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extension of BTPbilling — fastest tier-3 build.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11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1188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· SEPARATE STACK (S/4 + Cloud Connector) · IMPLEMENTED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292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 Core Compliance Dashboard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9184" y="877824"/>
            <a:ext cx="7754112" cy="5010912"/>
          </a:xfrm>
          <a:prstGeom prst="rect">
            <a:avLst/>
          </a:prstGeom>
          <a:solidFill>
            <a:srgbClr val="D5DADD"/>
          </a:solidFill>
          <a:ln/>
        </p:spPr>
      </p:sp>
      <p:pic>
        <p:nvPicPr>
          <p:cNvPr id="8" name="Image 0" descr="D:\Claude\BTP Advisory APps\_pitch-deck\screenshots\app11-clean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7680960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0" y="914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single most-asked question in any clean-core engagement — answered with code, not opinion.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Per-extension audit: unreleased SAP API usage, classic in-stack mods, ABAP Cloud violations.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each finding to SAP's side-by-side vs in-stack guidance.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architecture: requires Cloud Connector + ABAP scanner package transported into S/4.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CAP/UI5 frontend reused; data acquisition is bespoke per S/4 estate.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built when an engagement specifically scopes it — bills for the extra setup.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Most-asked question in clean-core conversations; nobody else has tooling for it.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swarm covers the *advisory* angle today; this app covers the *evidence* angle when needed.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MTA shape. One auth pattern. Eleven apps.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4592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91440" cy="9144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55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SAPUI5 1.120 freestyle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tiles · table · Excel/PPTX export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69748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697480"/>
            <a:ext cx="91440" cy="914400"/>
          </a:xfrm>
          <a:prstGeom prst="rect">
            <a:avLst/>
          </a:prstGeom>
          <a:solidFill>
            <a:srgbClr val="F4B94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8072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 @sap/cds ^9 (Node.js)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v4 service · XSUAA roles · CDS persistence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91440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858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srv/lib (shared)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251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oauth-cache · cis-client · subaccount-clients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475488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80060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9103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BTP APIs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UAS · Audit Log · Destination · XSUAA Authz · IAS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28016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155448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152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Leave-behind, not consultant-hosted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0" y="1783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 deploys to the customer's own subaccount. They keep it after the engagement. No multitenancy, no data leaving their tenant.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256032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29400" y="2834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Mock mode out of the box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boots with rich mock data. Real data turns on the moment SUBACCOUNT_KEYS / IAS_* env vars are set.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29400" y="411480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662940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315200" y="3977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Per-clientid OAuth token cache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434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proven token-cache pattern from BTPbilling. One implementation, shared across all apps.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0" y="5120640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D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29400" y="539496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62940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315200" y="5257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XSUAA scope split: Viewer / Admin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315200" y="56235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for workshop attendees; tuning rights for the lead architect during the engagement.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4-week engagement that ships something on day five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6424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4879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487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 &amp; deploy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apps #1, #2, #3 in customer's lab subaccount. SUBACCOUNT_KEYS configured. Live data on day five.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1485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485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1470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5186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&amp; assess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9758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Compliance Scorecard with stakeholders. Tune rules to the customer's standards. Snapshot the day-one baseline.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8091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8091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8076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 &amp; remediate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backlog of high-impact fixes. Customer team executes; we shadow. Apps #4, #5, #9 brought online for security/cert review.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46970" y="2468880"/>
            <a:ext cx="365760" cy="365760"/>
          </a:xfrm>
          <a:prstGeom prst="ellipse">
            <a:avLst/>
          </a:prstGeom>
          <a:solidFill>
            <a:srgbClr val="F9616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4697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846820" y="1965960"/>
            <a:ext cx="2766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83980" y="320040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Hand-over &amp; QBR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29700" y="374904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the after-state. Generate the "before vs after" deliverable. Hand over MTA repos + runbook. Schedule next QBR.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traditional advisory engagement spends weeks 1-3 on interviews. Ours spends week 1 building reality.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 DEPLOYMENT TIME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long the apps take to deploy into a customer tenant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795528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98448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984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129844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0" y="129844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time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0" y="1298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556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7556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Subaccount Lifecycle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175564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0" y="17556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17556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+ Audit Log keys per subaccount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020824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08483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0848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Inventory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208483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20848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20848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DESTINATION_KEYS array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350008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41401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24140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Scorecard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241401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24140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24140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#1+#2 data; rule editing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679192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27432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2743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Federation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27432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40480" y="27432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hr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27432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"API access" app + scope grants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008376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07238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14400" y="307238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Role-Collection Map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291840" y="3072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840480" y="30723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212080" y="3072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Per-subaccount XSUAA apiaccess keys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337560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40156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4400" y="34015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 Console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291840" y="34015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40480" y="3401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12080" y="34015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audit-log-management instance per subaccount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3666744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373075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" y="37307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Optimization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91840" y="37307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40480" y="37307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 + seed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12080" y="37307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UAS bound; +3h to seed ContractAnchors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3995928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40599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" y="4059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291840" y="40599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3840480" y="40599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212080" y="40599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Core service-key + OAuth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325112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8912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14400" y="4389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 Expiry Console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291840" y="43891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3840480" y="43891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212080" y="43891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DESTINATION_KEYS + IAS keys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" y="4654296"/>
            <a:ext cx="795528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47183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914400" y="471830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Allocation &amp; Showback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3291840" y="47183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3840480" y="47183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hr + seed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5212080" y="471830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UAS bound; +3h to import org hierarchy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4983480"/>
            <a:ext cx="795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50474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914400" y="50474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Core Compliance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3291840" y="50474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3840480" y="50474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day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5212080" y="50474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ABAP transport + Cloud Connector + virtual host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8686800" y="1188720"/>
            <a:ext cx="3017520" cy="4937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8" name="Shape 76"/>
          <p:cNvSpPr/>
          <p:nvPr/>
        </p:nvSpPr>
        <p:spPr>
          <a:xfrm>
            <a:off x="8686800" y="1188720"/>
            <a:ext cx="3017520" cy="91440"/>
          </a:xfrm>
          <a:prstGeom prst="rect">
            <a:avLst/>
          </a:prstGeom>
          <a:solidFill>
            <a:srgbClr val="F4B942"/>
          </a:solidFill>
          <a:ln/>
        </p:spPr>
      </p:sp>
      <p:sp>
        <p:nvSpPr>
          <p:cNvPr id="79" name="Text 77"/>
          <p:cNvSpPr/>
          <p:nvPr/>
        </p:nvSpPr>
        <p:spPr>
          <a:xfrm>
            <a:off x="896112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ENGAGEMENT-LEVEL TOTALS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961120" y="17830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Day-1 demo (#1 only)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8961120" y="2075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min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961120" y="2331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against the customer's lab subaccount inside 90 minutes.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896112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1 pilot (#1, #2, #3)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8961120" y="29900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hr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8961120" y="3246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IP-centerpiece scorecard live; ready for the first workshop.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8961120" y="36118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First-wave engagement (#1–#5, #9)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8961120" y="39044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day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8961120" y="41605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five apps + cert expiry. Sells as a 4-week engagement.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8961120" y="45262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BTP-native (#1–#10)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8961120" y="4818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days + seed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8961120" y="5074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Clean Core. Add 6 hours seeding contract anchors and org hierarchy.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8961120" y="5440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arsenal incl. #11</a:t>
            </a:r>
            <a:endParaRPr lang="en-US" sz="1200" dirty="0"/>
          </a:p>
        </p:txBody>
      </p:sp>
      <p:sp>
        <p:nvSpPr>
          <p:cNvPr id="93" name="Text 91"/>
          <p:cNvSpPr/>
          <p:nvPr/>
        </p:nvSpPr>
        <p:spPr>
          <a:xfrm>
            <a:off x="8961120" y="57332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3–4 days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8961120" y="5989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day for ABAP scanner transport + Cloud Connector wiring.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nobody else in the BTP advisory space ships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566160" cy="4206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3566160" cy="914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apps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shipping 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tooling, not narrative deliverables.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BTP advisory practice walks out with a Word doc. We walk out with an MTA archive in production.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463040"/>
            <a:ext cx="3566160" cy="4206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463040"/>
            <a:ext cx="3566160" cy="914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MTA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5720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productized arsenal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skeleton, not a reinvented wheel.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4389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MTA shape, same auth, same shared srv/lib across the 10 BTP-native apps. Every engagement compounds onto the next.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66160" cy="4206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1463040"/>
            <a:ext cx="3566160" cy="914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 hr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41248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 per-client deploy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delivery team that scales with the practice.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 colleague who has not built the app can deploy it cold in under 2 hours from the runbook. Not bound to one Architect.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Architecture &amp; Governance Advisory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subaccount.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what we find in 90 minutes.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3444240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283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70832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workshop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475488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90-minute remote session against one of your customer's lab subaccounts. We arrive with the apps already running. You see findings live.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8640" y="4206240"/>
            <a:ext cx="3444240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28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7240" y="4370832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4-week 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87240" y="475488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scoped pilot engagement: apps #1, #2, #3 deployed to the customer's tenant, before/after snapshot, hand-over runbook.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77200" y="4206240"/>
            <a:ext cx="3444240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28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5800" y="4370832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partnership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05800" y="475488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the arsenal under your brand. We co-own the roadmap. Customers see one consultant, you keep the relationship.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BTP Advisory Apps Arsenal</dc:title>
  <dc:subject>PptxGenJS Presentation</dc:subject>
  <dc:creator>BTP Architecture &amp; Governance Advisory</dc:creator>
  <cp:lastModifiedBy>BTP Architecture &amp; Governance Advisory</cp:lastModifiedBy>
  <cp:revision>1</cp:revision>
  <dcterms:created xsi:type="dcterms:W3CDTF">2026-05-13T11:04:47Z</dcterms:created>
  <dcterms:modified xsi:type="dcterms:W3CDTF">2026-05-13T11:04:47Z</dcterms:modified>
</cp:coreProperties>
</file>
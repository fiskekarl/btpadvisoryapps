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TOOLING FOR ENTERPRISE BTP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BTP Architecture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Governance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11-app advisory arsenal that turns governance reviews into running dashboards your customers keep.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3657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· IAS · Subaccount · Clean Core · BTP AI Services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gap your customers don't know they have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0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295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BTP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"who can deploy to production" without manually walking the cockpit.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463040"/>
            <a:ext cx="350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2480" y="1737360"/>
            <a:ext cx="295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€127K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02480" y="29260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waste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2480" y="347472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idle subaccount entitlements per global account at €100M+ revenue customers.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99120" y="1463040"/>
            <a:ext cx="350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73440" y="1737360"/>
            <a:ext cx="295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mo.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473440" y="29260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73440" y="347472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 misconfigured IAS trust and the access-review incident that surfaces it.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gives them the platform. SAP does not give them the operational visibility to run it.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ADVISORY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leave a PDF behind. We leave running dashboards.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3291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EA on-site or remote. Open the apps against the customer's tenant in front of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54480"/>
            <a:ext cx="73152" cy="3291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Scorecard runs against their landscape. Findings are concrete, not opinion.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73152" cy="3291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rules and baselines live in the workshop. Snapshot before-state.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15544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554480"/>
            <a:ext cx="73152" cy="3291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26880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over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apps running in their tenant. Snapshot after-state at the next QBR.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advisory ends when the deck closes. Ours ends when the customer rebuilds their cockpit on what we shipped them.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ARSENAL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apps. 4 tiers of fit. One MTA shape.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Subaccount Lifecycle &amp; Drift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7251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4700" y="155448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7580" y="1691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97580" y="210312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&amp; Connectivity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7580" y="257251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IMPLEMENTED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2674620" cy="1402080"/>
          </a:xfrm>
          <a:prstGeom prst="rect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91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10312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Scorecard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57251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IP CENTERPIECE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29700" y="155448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2580" y="1691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12580" y="210312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Federation Health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12580" y="257251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IMPLEMENTED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3944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76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6880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Role-Collection &amp; Identity 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15747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IMPLEMENTED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4700" y="313944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7580" y="3276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97580" y="36880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&amp; Change Inventory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7580" y="415747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IMPLEMENTED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313944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276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55080" y="36880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Optimization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15747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IMPLEMENTED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29700" y="313944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2580" y="3276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12580" y="36880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AI Services Governance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12580" y="415747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IMPLEMENTED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2440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861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" y="52730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Config &amp; Cert Expiry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74243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IMPLEMENTED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4700" y="472440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7580" y="4861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497580" y="52730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Allocation &amp; Showback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97580" y="574243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IMPLEMENTED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4724400"/>
            <a:ext cx="2674620" cy="1402080"/>
          </a:xfrm>
          <a:prstGeom prst="rect">
            <a:avLst/>
          </a:prstGeom>
          <a:solidFill>
            <a:srgbClr val="1E2761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861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355080" y="52730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 Compliance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55080" y="574243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· IMPLEMENTED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▆ All 11 apps implemented    ★ IP centerpiece    ▎ Tier color (1 coral · 2 gold · 3 ice · 4 grey)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UNIVERSAL OPENER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Subaccount Lifecycle &amp; Drift Tracker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1-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day-1 demo every engagement opens with — "show me my real estate."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of every subaccount via CIS Accounts API.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timestamps from Audit Log Retrieval — flags 90+ day inactive.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labels, service instances, role-collections vs tier baseline.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inferred from labels (prod / qa / dev) with override per subaccount.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answer "what subaccounts do we have, and which can be turned off?" without this.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idle subaccounts within 5 minutes — typical first-week saving: €15-40K/yr.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single-source-of-truth inventory their cockpit doesn't give them.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HIGHEST INSIGHT-PER-EFFORT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 &amp; Connectivity Inventory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2-destin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destination across every subaccount with risk scoring — basic auth, expiring certs, dangling targets.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subaccount's destination service via SUBACCOUNT_KEYS.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x509 certificate content (Certificates[].Content) for expiry dates.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BasicAuth-in-prod, certs &lt;14d, certs &lt;60d.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workflow with snooze-until — preserves audit trail.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has 200+ destinations and zero visibility — guaranteed material findings on day one.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cert-expiry incident before it takes prod down.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ROI for the security review conversation.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IP CENTERPIECE · TIER 1 · HIGHEST MARGIN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Compliance Scorecard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3-score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codified governance opinion, running on the customer's real data, exporting the engagement deck.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with 4 evaluators + 6 baseline rules out of the box.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Per-subaccount A/B/C/D/F grading; overall global-account score.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ScoreAdmin can edit rules in the workshop — tuned ruleset stays with the customer.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persistence enables "before vs after" deliverable at every QBR.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copy — codifies *your* IP, not SAP's.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the engagement's headline slide. Justifies the engagement on its own.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extraordinarily well: tweak a rule live, watch grade change in real time.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SECURITY/COMPLIANCE BUYER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CIS/IAS Identity Federation Health Check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4-ident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silent failures in IAS↔XSUAA federation — surfaced before they become an audit finding.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configurations enumerated per subaccount with cert expiry parsing.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Application list with MFA-enforcement detection per app.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dormant-user detection (90+ days from custom lastLogin extension).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TRUST_CERT_EXPIRING, MFA_MISSING_ON_ADMIN_APP, DORMANT_USER.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#1 audit finding in BTP reviews — you arrive with the data already laid out.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into CISOs and security architects, not just platform admins.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app #5 to close the "who can do what" question end-to-end.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"WHO CAN DEPLOY TO PROD"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Role-Collection &amp; Identity Map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5-role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× Role-Collection × Subaccount cross-tab with toxic-combo detection. Most customers cannot answer this — and now they have to.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subaccount's XSUAA Authorization API for RC enumeration + per-RC user lists.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Email-keyed cross-tabulation aggregates "the same human" across tenants.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baseline toxic-combo policies: prod-dev admin, prod-dev deployer, admin-and-auditor.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assignment drill-down dialog. Admin can author new policies in-app.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Sellable as a standalone deliverable — one report scoped purely around access governance.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committees pay for the report this app generates in one click.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compliance-hour question that haunts every BTP customer over €1B revenue.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INCIDENT PREVENTION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Config &amp; Cert Expiry Console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9-ce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certificate across the BTP landscape with rotation owner, blast radius, and acknowledgement workflow.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from destinations, IAS SAML/OIDC, XSUAA trust configs, cTMS keys.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ladder: notice (90d) → warn (30d) → critical (14d) → expired.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Per-engagement rotation-owner registry maps cert patterns to named humans.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Acknowledge-until workflow suppresses noise during planned rotation windows.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kind of incident that becomes a referral story.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Universally relevant — every BTP customer has an expiring cert they don't know about.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multiplier: prevents one incident, sells the next three engagements.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COMPLIANCE-DRIVEN ENGAGEMENTS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Audit-Log &amp; Change Inventory Console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6-audit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change timeline across subaccounts. The deliverable a SOX walkthrough is built around.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Audit Log Retrieval Service + cTMS deployment history + Cloud Transport Management.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actor, action, resource type. Exportable for SOX/ISO/internal audit.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admin role granted outside change window, after-hours deploys.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naturally with app #1 — same Audit Log binding, different lens.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headline deliverable for compliance-driven engagements.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internal-audit team becomes a recurring stakeholder.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build time: 1 week using shared srv/lib.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CFO-TIER ROI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Entitlement &amp; License Optimization Advisor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7-entitle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ROI for the renewal conversation. Gives procurement a number; gives you the next engagement.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Entitlements + UAS 12-24 month utilization history.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"Approaching renewal" highlighting; downgrade recommendations with €/yr saving.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BTPbilling: temporal not snapshot — sees the whole curve.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extension of BTPbilling skeleton — fastest tier-2 build.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and CFO become economic buyers, not just IT.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finding: €X00K/yr in headroom optimization.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self-funds inside one renewal cycle.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2026 CISO BUDGET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BTP AI Services Governance Console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08-aigover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are people actually doing with GenAI?" — the question every CISO is being asked in board meetings.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Hub orchestration prompts deployed where, by whom.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spend by subaccount/team/cost-center.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Content-filter &amp; data-masking config per scenario.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alerts; prohibited-data egress detection.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wedge for AI-curious CIOs with fresh budget.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the AI swarm offering for full-stack AI governance.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engineering risk: AI Core APIs still maturing — built when an engagement specifically scopes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CFO CONVERSATION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Landscape Cost-Allocation &amp; Showback Engine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10-costall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Moves the CFO from "show me costs" to "approved, here's the chargeback policy."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cost tree: BU → product → environment → subaccount.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Per-cost-center invoices generated from CIS labels.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shared-service allocation (XSUAA, audit log, IAS) with split rules.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BTPbilling's subaccount-flat view — full chargeback semantics.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Approval-grade reporting for IT chargeback to the business.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justifies the engagement on its own.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extension of BTPbilling — fastest tier-3 build.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· SEPARATE STACK (S/4 + Cloud Connector) ·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92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Core Compliance Dashboard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877824"/>
            <a:ext cx="7754112" cy="5010912"/>
          </a:xfrm>
          <a:prstGeom prst="rect">
            <a:avLst/>
          </a:prstGeom>
          <a:solidFill>
            <a:srgbClr val="D5DADD"/>
          </a:solidFill>
          <a:ln/>
        </p:spPr>
      </p:sp>
      <p:pic>
        <p:nvPicPr>
          <p:cNvPr id="8" name="Image 0" descr="D:\Claude\BTP Advisory APps\_pitch-deck\screenshots\app11-clean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76809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914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most-asked question in any clean-core engagement — answered with code, not opinion.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Per-extension audit: unreleased SAP API usage, classic in-stack mods, ABAP Cloud violations.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finding to SAP's side-by-side vs in-stack guidance.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architecture: requires Cloud Connector + ABAP scanner package transported into S/4.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CAP/UI5 frontend reused; data acquisition is bespoke per S/4 estate.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built when an engagement specifically scopes it — bills for the extra setup.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Most-asked question in clean-core conversations; nobody else has tooling for it.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swarm covers the *advisory* angle today; this app covers the *evidence* angle when needed.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MTA shape. One auth pattern. Eleven apps.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45920"/>
            <a:ext cx="4754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45920"/>
            <a:ext cx="9144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55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SAPUI5 1.120 freestyle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· table · Excel/PPTX export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4754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97480"/>
            <a:ext cx="91440" cy="9144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807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@sap/cds ^9 (Node.js)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v4 service · XSUAA roles · CDS persistence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4754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49040"/>
            <a:ext cx="9144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858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srv/lib (shared)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oauth-cache · cis-client · subaccount-clients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800600"/>
            <a:ext cx="4754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800600"/>
            <a:ext cx="914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910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BTP APIs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· UAS · Audit Log · Destination · XSUAA Authz · 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28016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1554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Leave-behind, not consultant-hosted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deploys to the customer's own subaccount. They keep it after the engagement. No multitenancy, no data leaving their tenant.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256032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2834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mode out of the box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3063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boots with rich mock data. Real data turns on the moment SUBACCOUNT_KEYS / IAS_* env vars are set.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84048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41148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1520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Per-clientid OAuth token cache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proven token-cache pattern from BTPbilling. One implementation, shared across all apps.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512064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9400" y="5394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1520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XSUAA scope split: Viewer / Admin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0" y="5623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for workshop attendees; tuning rights for the lead architect during the engagement.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4-week engagement that ships something on day five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8790" y="2468880"/>
            <a:ext cx="365760" cy="36576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4879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 &amp; deploy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apps #1, #2, #3 in customer's lab subaccount. SUBACCOUNT_KEYS configured. Live data on day five.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4850" y="2468880"/>
            <a:ext cx="365760" cy="36576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485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4700" y="196596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1860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&amp; assess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7580" y="374904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Compliance Scorecard with stakeholders. Tune rules to the customer's standards. Snapshot the day-one baseline.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80910" y="2468880"/>
            <a:ext cx="365760" cy="36576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8091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196596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&amp; remediate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374904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backlog of high-impact fixes. Customer team executes; we shadow. Apps #4, #5, #9 brought online for security/cert review.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46970" y="2468880"/>
            <a:ext cx="365760" cy="36576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697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46820" y="196596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83980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Hand-over &amp; QBR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29700" y="3749040"/>
            <a:ext cx="24003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after-state. Generate the "before vs after" deliverable. Hand over MTA repos + runbook. Schedule next QBR.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traditional advisory engagement spends weeks 1-3 on interviews. Ours spends week 1 building reality.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DEPLOYMENT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the apps take to deploy into a customer tenant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9552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2984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298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7955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556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755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Subaccount Lifecycle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7556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hr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+ Audit Log keys per subaccount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020824"/>
            <a:ext cx="79552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848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084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Inventory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084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DESTINATION_KEYS array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50008"/>
            <a:ext cx="7955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414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414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Scorecard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414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414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4140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#1+#2 data; rule editing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679192"/>
            <a:ext cx="79552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432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2743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Federation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27432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2743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7432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"API access" app + scope grants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008376"/>
            <a:ext cx="7955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0723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3072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Role-Collection Map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3072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3072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hr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3072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Per-subaccount XSUAA apiaccess keys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337560"/>
            <a:ext cx="79552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4015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Console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3401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audit-log-management instance per subaccount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3666744"/>
            <a:ext cx="7955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7307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" y="3730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Optimization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91840" y="3730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40480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 + seed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1208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bound; +3h to seed ContractAnchors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995928"/>
            <a:ext cx="79552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059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4400" y="4059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91840" y="40599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40480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212080" y="4059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service-key + OAuth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325112"/>
            <a:ext cx="7955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14400" y="4389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Expiry Console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291840" y="4389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840480" y="4389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212080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DESTINATION_KEYS + IAS keys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" y="4654296"/>
            <a:ext cx="79552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7183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14400" y="47183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Allocation &amp; Showback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291840" y="47183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840480" y="4718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hr + seed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21208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bound; +3h to import org hierarchy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4983480"/>
            <a:ext cx="7955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50474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14400" y="5047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 Compliance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291840" y="50474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840480" y="5047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day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212080" y="5047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transport + Cloud Connector + virtual host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686800" y="1188720"/>
            <a:ext cx="3017520" cy="4937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8" name="Shape 76"/>
          <p:cNvSpPr/>
          <p:nvPr/>
        </p:nvSpPr>
        <p:spPr>
          <a:xfrm>
            <a:off x="8686800" y="1188720"/>
            <a:ext cx="3017520" cy="914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9" name="Text 77"/>
          <p:cNvSpPr/>
          <p:nvPr/>
        </p:nvSpPr>
        <p:spPr>
          <a:xfrm>
            <a:off x="89611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ENGAGEMENT-LEVEL TOTALS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961120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Day-1 demo (#1 only)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961120" y="2075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min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961120" y="2331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app against the customer's lab subaccount inside 90 minutes.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96112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 pilot (#1, #2, #3)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96112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hr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961120" y="3246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IP-centerpiece scorecard live; ready for the first workshop.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961120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First-wave engagement (#1–#5, #9)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896112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day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89611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five apps + cert expiry. Sells as a 4-week engagement.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961120" y="4526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BTP-native (#1–#10)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8961120" y="4818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days + seed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961120" y="5074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Clean Core. Add 6 hours seeding contract anchors and org hierarchy.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961120" y="5440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arsenal incl. #11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961120" y="5733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days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961120" y="5989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day for ABAP scanner transport + Cloud Connector wiring.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nobody else in the BTP advisory space 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6616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56616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apps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shipping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tooling, not narrative deliverables.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BTP advisory practice walks out with a Word doc. We walk out with an MTA archive in production.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6616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463040"/>
            <a:ext cx="356616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MTA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productized arsenal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skeleton, not a reinvented wheel.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MTA shape, same auth, same shared srv/lib across the 10 BTP-native apps. Every engagement compounds onto the next.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56616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463040"/>
            <a:ext cx="356616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hr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per-client 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3383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delivery team that scales with the practice.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colleague who has not built the app can deploy it cold in under 2 hours from the runbook. Not bound to one Architect.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Architecture &amp; Governance Advisory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subaccount.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what we find in 90 minutes.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344424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28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370832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workshop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remote session against one of your customer's lab subaccounts. We arrive with the apps already running. You see findings live.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8640" y="4206240"/>
            <a:ext cx="344424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28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7240" y="4370832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7240" y="475488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 pilot engagement: apps #1, #2, #3 deployed to the customer's tenant, before/after snapshot, hand-over runbook.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77200" y="4206240"/>
            <a:ext cx="344424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28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5800" y="4370832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partnership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05800" y="475488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the arsenal under your brand. We co-own the roadmap. Customers see one consultant, you keep the relationship.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 Advisory Apps Arsenal</dc:title>
  <dc:subject>PptxGenJS Presentation</dc:subject>
  <dc:creator>BTP Architecture &amp; Governance Advisory</dc:creator>
  <cp:lastModifiedBy>BTP Architecture &amp; Governance Advisory</cp:lastModifiedBy>
  <cp:revision>1</cp:revision>
  <dcterms:created xsi:type="dcterms:W3CDTF">2026-05-13T10:56:45Z</dcterms:created>
  <dcterms:modified xsi:type="dcterms:W3CDTF">2026-05-13T10:56:45Z</dcterms:modified>
</cp:coreProperties>
</file>
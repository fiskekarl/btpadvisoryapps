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A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46720" y="0"/>
            <a:ext cx="4114800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11795760" y="0"/>
            <a:ext cx="365760" cy="685800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097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TOOLING FOR ENTERPRISE BTP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1554480"/>
            <a:ext cx="8229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6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BTP Architecture</a:t>
            </a:r>
            <a:endParaRPr lang="en-US" sz="6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6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&amp; Governance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640080" y="420624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11-app advisory arsenal that turns governance reviews into running dashboards your customers keep.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40080" y="5852160"/>
            <a:ext cx="3657600" cy="0"/>
          </a:xfrm>
          <a:prstGeom prst="line">
            <a:avLst/>
          </a:prstGeom>
          <a:noFill/>
          <a:ln w="25400">
            <a:solidFill>
              <a:srgbClr val="F9616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5989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 · IAS · Subaccount · Clean Core · BTP AI Services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315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64592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329184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governance gap your customers don't know they have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35052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DD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1737360"/>
            <a:ext cx="295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83%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731520" y="2926080"/>
            <a:ext cx="2956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BTP customers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3474720"/>
            <a:ext cx="2956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answer "who can deploy to production" without manually walking the cockpit.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28160" y="1463040"/>
            <a:ext cx="35052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DD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602480" y="1737360"/>
            <a:ext cx="295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€127K</a:t>
            </a:r>
            <a:endParaRPr lang="en-US" sz="6000" dirty="0"/>
          </a:p>
        </p:txBody>
      </p:sp>
      <p:sp>
        <p:nvSpPr>
          <p:cNvPr id="11" name="Text 9"/>
          <p:cNvSpPr/>
          <p:nvPr/>
        </p:nvSpPr>
        <p:spPr>
          <a:xfrm>
            <a:off x="4602480" y="2926080"/>
            <a:ext cx="2956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annual waste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602480" y="3474720"/>
            <a:ext cx="2956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idle subaccount entitlements per global account at €100M+ revenue customers.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99120" y="1463040"/>
            <a:ext cx="35052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DD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473440" y="1737360"/>
            <a:ext cx="295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 mo.</a:t>
            </a:r>
            <a:endParaRPr lang="en-US" sz="6000" dirty="0"/>
          </a:p>
        </p:txBody>
      </p:sp>
      <p:sp>
        <p:nvSpPr>
          <p:cNvPr id="15" name="Text 13"/>
          <p:cNvSpPr/>
          <p:nvPr/>
        </p:nvSpPr>
        <p:spPr>
          <a:xfrm>
            <a:off x="8473440" y="2926080"/>
            <a:ext cx="2956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 failure window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473440" y="3474720"/>
            <a:ext cx="2956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 a misconfigured IAS trust and the access-review incident that surfaces it.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" y="55321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SAP gives them the platform. SAP does not give them the operational visibility to run it.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BTP Architecture &amp; Governance Advisory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20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315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64592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ADVISORY MODEL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329184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don't leave a PDF behind. We leave running dashboards.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260604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D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554480"/>
            <a:ext cx="73152" cy="329184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78308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685800" y="233172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Workshop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85800" y="2971800"/>
            <a:ext cx="2148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 EA on-site or remote. Open the apps against the customer's tenant in front of them.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337560" y="1554480"/>
            <a:ext cx="260604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D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337560" y="1554480"/>
            <a:ext cx="73152" cy="329184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12" name="Text 10"/>
          <p:cNvSpPr/>
          <p:nvPr/>
        </p:nvSpPr>
        <p:spPr>
          <a:xfrm>
            <a:off x="3566160" y="178308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3566160" y="233172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Assess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3566160" y="2971800"/>
            <a:ext cx="2148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Compliance Scorecard runs against their landscape. Findings are concrete, not opinion.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217920" y="1554480"/>
            <a:ext cx="260604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D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0" y="1554480"/>
            <a:ext cx="73152" cy="329184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17" name="Text 15"/>
          <p:cNvSpPr/>
          <p:nvPr/>
        </p:nvSpPr>
        <p:spPr>
          <a:xfrm>
            <a:off x="6446520" y="178308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6446520" y="233172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Recommend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6446520" y="2971800"/>
            <a:ext cx="2148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 rules and baselines live in the workshop. Snapshot before-state.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9098280" y="1554480"/>
            <a:ext cx="260604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D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098280" y="1554480"/>
            <a:ext cx="73152" cy="329184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22" name="Text 20"/>
          <p:cNvSpPr/>
          <p:nvPr/>
        </p:nvSpPr>
        <p:spPr>
          <a:xfrm>
            <a:off x="9326880" y="178308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9326880" y="233172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Hand over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9326880" y="2971800"/>
            <a:ext cx="2148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the apps running in their tenant. Snapshot after-state at the next QBR.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57200" y="539496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Conventional advisory ends when the deck closes. Ours ends when the customer rebuilds their cockpit on what we shipped them.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BTP Architecture &amp; Governance Advisory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20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A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ARSENAL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8580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 apps. 4 tiers of fit. One MTA shape.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674620" cy="1402080"/>
          </a:xfrm>
          <a:prstGeom prst="rect">
            <a:avLst/>
          </a:prstGeom>
          <a:solidFill>
            <a:srgbClr val="1E2761"/>
          </a:solidFill>
          <a:ln w="9525">
            <a:solidFill>
              <a:srgbClr val="F9616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691640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2103120"/>
            <a:ext cx="23088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Subaccount Lifecycle &amp; Drift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2572512"/>
            <a:ext cx="23088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1 · IMPLEMENTED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314700" y="1554480"/>
            <a:ext cx="2674620" cy="1402080"/>
          </a:xfrm>
          <a:prstGeom prst="rect">
            <a:avLst/>
          </a:prstGeom>
          <a:solidFill>
            <a:srgbClr val="1E2761"/>
          </a:solidFill>
          <a:ln w="9525">
            <a:solidFill>
              <a:srgbClr val="F9616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97580" y="1691640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497580" y="2103120"/>
            <a:ext cx="23088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Destination &amp; Connectivity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497580" y="2572512"/>
            <a:ext cx="23088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1 · IMPLEMENTED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172200" y="1554480"/>
            <a:ext cx="2674620" cy="1402080"/>
          </a:xfrm>
          <a:prstGeom prst="rect">
            <a:avLst/>
          </a:prstGeom>
          <a:solidFill>
            <a:srgbClr val="1E2761"/>
          </a:solidFill>
          <a:ln w="25400">
            <a:solidFill>
              <a:srgbClr val="F9616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55080" y="1691640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355080" y="2103120"/>
            <a:ext cx="23088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Scorecard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355080" y="2572512"/>
            <a:ext cx="23088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F4B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IP CENTERPIECE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029700" y="1554480"/>
            <a:ext cx="2674620" cy="1402080"/>
          </a:xfrm>
          <a:prstGeom prst="rect">
            <a:avLst/>
          </a:prstGeom>
          <a:solidFill>
            <a:srgbClr val="1E2761"/>
          </a:solidFill>
          <a:ln w="9525">
            <a:solidFill>
              <a:srgbClr val="F4B94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212580" y="1691640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B9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9212580" y="2103120"/>
            <a:ext cx="23088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Federation Health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212580" y="2572512"/>
            <a:ext cx="23088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2 · IMPLEMENTED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57200" y="3139440"/>
            <a:ext cx="2674620" cy="1402080"/>
          </a:xfrm>
          <a:prstGeom prst="rect">
            <a:avLst/>
          </a:prstGeom>
          <a:solidFill>
            <a:srgbClr val="1E2761"/>
          </a:solidFill>
          <a:ln w="9525">
            <a:solidFill>
              <a:srgbClr val="F4B94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276600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B9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40080" y="3688080"/>
            <a:ext cx="23088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Role-Collection &amp; Identity Map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40080" y="4157472"/>
            <a:ext cx="23088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2 · IMPLEMENTED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314700" y="3139440"/>
            <a:ext cx="2674620" cy="1402080"/>
          </a:xfrm>
          <a:prstGeom prst="rect">
            <a:avLst/>
          </a:prstGeom>
          <a:solidFill>
            <a:srgbClr val="1E2761"/>
          </a:solidFill>
          <a:ln w="9525">
            <a:solidFill>
              <a:srgbClr val="F4B94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497580" y="3276600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B9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3497580" y="3688080"/>
            <a:ext cx="23088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Audit-Log &amp; Change Inventory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3497580" y="4157472"/>
            <a:ext cx="23088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2 · IMPLEMENTED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172200" y="3139440"/>
            <a:ext cx="2674620" cy="1402080"/>
          </a:xfrm>
          <a:prstGeom prst="rect">
            <a:avLst/>
          </a:prstGeom>
          <a:solidFill>
            <a:srgbClr val="1E2761"/>
          </a:solidFill>
          <a:ln w="9525">
            <a:solidFill>
              <a:srgbClr val="F4B94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55080" y="3276600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B9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6355080" y="3688080"/>
            <a:ext cx="23088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Entitlement Optimization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355080" y="4157472"/>
            <a:ext cx="23088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2 · IMPLEMENTED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9029700" y="3139440"/>
            <a:ext cx="2674620" cy="1402080"/>
          </a:xfrm>
          <a:prstGeom prst="rect">
            <a:avLst/>
          </a:prstGeom>
          <a:solidFill>
            <a:srgbClr val="1E2761"/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212580" y="3276600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9212580" y="3688080"/>
            <a:ext cx="23088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BTP AI Services Governance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9212580" y="4157472"/>
            <a:ext cx="23088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3 · IMPLEMENTED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57200" y="4724400"/>
            <a:ext cx="2674620" cy="1402080"/>
          </a:xfrm>
          <a:prstGeom prst="rect">
            <a:avLst/>
          </a:prstGeom>
          <a:solidFill>
            <a:srgbClr val="1E2761"/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0080" y="4861560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640080" y="5273040"/>
            <a:ext cx="23088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Config &amp; Cert Expiry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640080" y="5742432"/>
            <a:ext cx="23088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3 · IMPLEMENTED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314700" y="4724400"/>
            <a:ext cx="2674620" cy="1402080"/>
          </a:xfrm>
          <a:prstGeom prst="rect">
            <a:avLst/>
          </a:prstGeom>
          <a:solidFill>
            <a:srgbClr val="1E2761"/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497580" y="4861560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3497580" y="5273040"/>
            <a:ext cx="23088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Allocation &amp; Showback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497580" y="5742432"/>
            <a:ext cx="23088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3 · IMPLEMENTED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172200" y="4724400"/>
            <a:ext cx="2674620" cy="1402080"/>
          </a:xfrm>
          <a:prstGeom prst="rect">
            <a:avLst/>
          </a:prstGeom>
          <a:solidFill>
            <a:srgbClr val="1E2761"/>
          </a:solidFill>
          <a:ln w="9525">
            <a:solidFill>
              <a:srgbClr val="64748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355080" y="4861560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4748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</a:t>
            </a:r>
            <a:endParaRPr lang="en-US" sz="1800" dirty="0"/>
          </a:p>
        </p:txBody>
      </p:sp>
      <p:sp>
        <p:nvSpPr>
          <p:cNvPr id="46" name="Text 44"/>
          <p:cNvSpPr/>
          <p:nvPr/>
        </p:nvSpPr>
        <p:spPr>
          <a:xfrm>
            <a:off x="6355080" y="5273040"/>
            <a:ext cx="23088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Core Compliance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6355080" y="5742432"/>
            <a:ext cx="23088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4 · IMPLEMENTED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457200" y="64008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▆ All 11 apps implemented    ★ IP centerpiece    ▎ Tier color (1 coral · 2 gold · 3 ice · 4 grey)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4008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80160" cy="64008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164592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4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 01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463040" y="118872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1 · UNIVERSAL OPENER · IMPLEMENTED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463040" y="29260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Subaccount Lifecycle &amp; Drift Tracker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29184" y="877824"/>
            <a:ext cx="7754112" cy="5010912"/>
          </a:xfrm>
          <a:prstGeom prst="rect">
            <a:avLst/>
          </a:prstGeom>
          <a:solidFill>
            <a:srgbClr val="D5DADD"/>
          </a:solidFill>
          <a:ln/>
        </p:spPr>
      </p:sp>
      <p:pic>
        <p:nvPicPr>
          <p:cNvPr id="8" name="Image 0" descr="/home/user/BTPadvisoryapps/_pitch-deck/screenshots/app01-lifecycl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914400"/>
            <a:ext cx="7680960" cy="49377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412480" y="91440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day-1 demo every engagement opens with — "show me my real estate."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8412480" y="20574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SHOWS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8412480" y="233172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inventory of every subaccount via CIS Accounts API.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timestamps from Audit Log Retrieval — flags 90+ day inactive.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 detection: labels, service instances, role-collections vs tier baseline.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inferred from labels (prod / qa / dev) with override per subaccount.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412480" y="42976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VALUE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8412480" y="457200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cannot answer "what subaccounts do we have, and which can be turned off?" without this.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Identifies idle subaccounts within 5 minutes — typical first-week saving: €15-40K/yr.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single-source-of-truth inventory their cockpit doesn't give them.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BTP Architecture &amp; Governance Advisory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20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4008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80160" cy="64008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164592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4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 02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463040" y="118872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1 · HIGHEST INSIGHT-PER-EFFORT · IMPLEMENTED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463040" y="29260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Destination &amp; Connectivity Inventory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29184" y="877824"/>
            <a:ext cx="7754112" cy="5010912"/>
          </a:xfrm>
          <a:prstGeom prst="rect">
            <a:avLst/>
          </a:prstGeom>
          <a:solidFill>
            <a:srgbClr val="D5DADD"/>
          </a:solidFill>
          <a:ln/>
        </p:spPr>
      </p:sp>
      <p:pic>
        <p:nvPicPr>
          <p:cNvPr id="8" name="Image 0" descr="/home/user/BTPadvisoryapps/_pitch-deck/screenshots/app02-destinatio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914400"/>
            <a:ext cx="7680960" cy="49377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412480" y="91440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destination across every subaccount with risk scoring — basic auth, expiring certs, dangling targets.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8412480" y="20574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SHOWS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8412480" y="233172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Walks every subaccount's destination service via SUBACCOUNT_KEYS.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Parses x509 certificate content (Certificates[].Content) for expiry dates.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Findings: BasicAuth-in-prod, certs &lt;14d, certs &lt;60d.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Acknowledgement workflow with snooze-until — preserves audit trail.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412480" y="42976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VALUE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8412480" y="457200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customer has 200+ destinations and zero visibility — guaranteed material findings on day one.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Catches the cert-expiry incident before it takes prod down.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ROI for the security review conversation.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BTP Architecture &amp; Governance Advisory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20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4008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80160" cy="64008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164592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4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 03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463040" y="118872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IP CENTERPIECE · TIER 1 · HIGHEST MARGIN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463040" y="29260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 Compliance Scorecard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29184" y="877824"/>
            <a:ext cx="7754112" cy="5010912"/>
          </a:xfrm>
          <a:prstGeom prst="rect">
            <a:avLst/>
          </a:prstGeom>
          <a:solidFill>
            <a:srgbClr val="D5DADD"/>
          </a:solidFill>
          <a:ln/>
        </p:spPr>
      </p:sp>
      <p:pic>
        <p:nvPicPr>
          <p:cNvPr id="8" name="Image 0" descr="/home/user/BTPadvisoryapps/_pitch-deck/screenshots/app03-scorecar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914400"/>
            <a:ext cx="7680960" cy="49377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412480" y="91440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codified governance opinion, running on the customer's real data, exporting the engagement deck.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8412480" y="20574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SHOWS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8412480" y="233172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engine with 4 evaluators + 6 baseline rules out of the box.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Per-subaccount A/B/C/D/F grading; overall global-account score.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ScoreAdmin can edit rules in the workshop — tuned ruleset stays with the customer.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Snapshot persistence enables "before vs after" deliverable at every QBR.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412480" y="42976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VALUE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8412480" y="457200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Hardest to copy — codifies *your* IP, not SAP's.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Auto-generates the engagement's headline slide. Justifies the engagement on its own.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Demos extraordinarily well: tweak a rule live, watch grade change in real time.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BTP Architecture &amp; Governance Advisory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20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4008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80160" cy="64008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164592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4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 04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463040" y="118872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2 · SECURITY/COMPLIANCE BUYER · IMPLEMENTED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463040" y="29260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CIS/IAS Identity Federation Health Check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29184" y="877824"/>
            <a:ext cx="7754112" cy="5010912"/>
          </a:xfrm>
          <a:prstGeom prst="rect">
            <a:avLst/>
          </a:prstGeom>
          <a:solidFill>
            <a:srgbClr val="D5DADD"/>
          </a:solidFill>
          <a:ln/>
        </p:spPr>
      </p:sp>
      <p:pic>
        <p:nvPicPr>
          <p:cNvPr id="8" name="Image 0" descr="/home/user/BTPadvisoryapps/_pitch-deck/screenshots/app04-identit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914400"/>
            <a:ext cx="7680960" cy="49377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412480" y="91440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silent failures in IAS↔XSUAA federation — surfaced before they become an audit finding.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8412480" y="20574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SHOWS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8412480" y="233172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configurations enumerated per subaccount with cert expiry parsing.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IAS Application list with MFA-enforcement detection per app.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SCIM dormant-user detection (90+ days from custom lastLogin extension).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Findings: TRUST_CERT_EXPIRING, MFA_MISSING_ON_ADMIN_APP, DORMANT_USER.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412480" y="42976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VALUE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8412480" y="457200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is the #1 audit finding in BTP reviews — you arrive with the data already laid out.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Sells into CISOs and security architects, not just platform admins.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Pairs with app #5 to close the "who can do what" question end-to-end.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BTP Architecture &amp; Governance Advisory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20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4008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80160" cy="64008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164592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4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 05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463040" y="118872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2 · "WHO CAN DEPLOY TO PROD" · IMPLEMENTED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463040" y="29260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Role-Collection &amp; Identity Map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29184" y="877824"/>
            <a:ext cx="7754112" cy="5010912"/>
          </a:xfrm>
          <a:prstGeom prst="rect">
            <a:avLst/>
          </a:prstGeom>
          <a:solidFill>
            <a:srgbClr val="D5DADD"/>
          </a:solidFill>
          <a:ln/>
        </p:spPr>
      </p:sp>
      <p:pic>
        <p:nvPicPr>
          <p:cNvPr id="8" name="Image 0" descr="/home/user/BTPadvisoryapps/_pitch-deck/screenshots/app05-rolema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914400"/>
            <a:ext cx="7680960" cy="49377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412480" y="91440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User × Role-Collection × Subaccount cross-tab with toxic-combo detection. Most customers cannot answer this — and now they have to.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8412480" y="20574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SHOWS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8412480" y="233172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Walks every subaccount's XSUAA Authorization API for RC enumeration + per-RC user lists.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Email-keyed cross-tabulation aggregates "the same human" across tenants.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baseline toxic-combo policies: prod-dev admin, prod-dev deployer, admin-and-auditor.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Per-user assignment drill-down dialog. Admin can author new policies in-app.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412480" y="42976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VALUE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8412480" y="457200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Sellable as a standalone deliverable — one report scoped purely around access governance.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committees pay for the report this app generates in one click.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compliance-hour question that haunts every BTP customer over €1B revenue.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BTP Architecture &amp; Governance Advisory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20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4008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80160" cy="64008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164592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4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 06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463040" y="118872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2 · COMPLIANCE-DRIVEN ENGAGEMENTS · IMPLEMENTED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463040" y="29260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Audit-Log &amp; Change Inventory Console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29184" y="877824"/>
            <a:ext cx="7754112" cy="5010912"/>
          </a:xfrm>
          <a:prstGeom prst="rect">
            <a:avLst/>
          </a:prstGeom>
          <a:solidFill>
            <a:srgbClr val="D5DADD"/>
          </a:solidFill>
          <a:ln/>
        </p:spPr>
      </p:sp>
      <p:pic>
        <p:nvPicPr>
          <p:cNvPr id="8" name="Image 0" descr="/home/user/BTPadvisoryapps/_pitch-deck/screenshots/app06-auditlo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914400"/>
            <a:ext cx="7680960" cy="49377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412480" y="91440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Unified change timeline across subaccounts. The deliverable a SOX walkthrough is built around.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8412480" y="20574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SHOWS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8412480" y="233172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Aggregates Audit Log Retrieval Service + cTMS deployment history + Cloud Transport Management.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by actor, action, resource type. Exportable for SOX/ISO/internal audit.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detection: admin role granted outside change window, after-hours deploys.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Pairs naturally with app #1 — same Audit Log binding, different lens.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412480" y="42976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VALUE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8412480" y="457200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the headline deliverable for compliance-driven engagements.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Customer's internal-audit team becomes a recurring stakeholder.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build time: 1 week using shared srv/lib.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BTP Architecture &amp; Governance Advisory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4008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80160" cy="64008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164592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4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 07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463040" y="118872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2 · CFO-TIER ROI · IMPLEMENTED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463040" y="29260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Entitlement &amp; License Optimization Advisor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29184" y="877824"/>
            <a:ext cx="7754112" cy="5010912"/>
          </a:xfrm>
          <a:prstGeom prst="rect">
            <a:avLst/>
          </a:prstGeom>
          <a:solidFill>
            <a:srgbClr val="D5DADD"/>
          </a:solidFill>
          <a:ln/>
        </p:spPr>
      </p:sp>
      <p:pic>
        <p:nvPicPr>
          <p:cNvPr id="8" name="Image 0" descr="/home/user/BTPadvisoryapps/_pitch-deck/screenshots/app07-entitlemen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914400"/>
            <a:ext cx="7680960" cy="49377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412480" y="91440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Hard ROI for the renewal conversation. Gives procurement a number; gives you the next engagement.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8412480" y="20574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SHOWS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8412480" y="233172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 Entitlements + UAS 12-24 month utilization history.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"Approaching renewal" highlighting; downgrade recommendations with €/yr saving.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from BTPbilling: temporal not snapshot — sees the whole curve.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extension of BTPbilling skeleton — fastest tier-2 build.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412480" y="42976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VALUE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8412480" y="457200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Procurement and CFO become economic buyers, not just IT.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finding: €X00K/yr in headroom optimization.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Engagement self-funds inside one renewal cycle.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BTP Architecture &amp; Governance Advisory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4008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80160" cy="64008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164592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4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 08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463040" y="118872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3 · 2026 CISO BUDGET · IMPLEMENTED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463040" y="29260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BTP AI Services Governance Console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29184" y="877824"/>
            <a:ext cx="7754112" cy="5010912"/>
          </a:xfrm>
          <a:prstGeom prst="rect">
            <a:avLst/>
          </a:prstGeom>
          <a:solidFill>
            <a:srgbClr val="D5DADD"/>
          </a:solidFill>
          <a:ln/>
        </p:spPr>
      </p:sp>
      <p:pic>
        <p:nvPicPr>
          <p:cNvPr id="8" name="Image 0" descr="/home/user/BTPadvisoryapps/_pitch-deck/screenshots/app08-aigovernanc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914400"/>
            <a:ext cx="7680960" cy="49377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412480" y="91440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 are people actually doing with GenAI?" — the question every CISO is being asked in board meetings.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8412480" y="20574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SHOWS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8412480" y="233172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Generative AI Hub orchestration prompts deployed where, by whom.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spend by subaccount/team/cost-center.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Content-filter &amp; data-masking config per scenario.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Prompt-injection alerts; prohibited-data egress detection.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412480" y="42976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VALUE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8412480" y="457200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Credibility wedge for AI-curious CIOs with fresh budget.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Pairs with the AI swarm offering for full-stack AI governance.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engineering risk: AI Core APIs still maturing — built when an engagement specifically scopes it.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BTP Architecture &amp; Governance Advisory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20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4008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80160" cy="64008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164592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4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 09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463040" y="118872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3 · INCIDENT PREVENTION · IMPLEMENTED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463040" y="29260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Trust Config &amp; Cert Expiry Console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29184" y="877824"/>
            <a:ext cx="7754112" cy="5010912"/>
          </a:xfrm>
          <a:prstGeom prst="rect">
            <a:avLst/>
          </a:prstGeom>
          <a:solidFill>
            <a:srgbClr val="D5DADD"/>
          </a:solidFill>
          <a:ln/>
        </p:spPr>
      </p:sp>
      <p:pic>
        <p:nvPicPr>
          <p:cNvPr id="8" name="Image 0" descr="/home/user/BTPadvisoryapps/_pitch-deck/screenshots/app09-cert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914400"/>
            <a:ext cx="7680960" cy="49377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412480" y="91440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certificate across the BTP landscape with rotation owner, blast radius, and acknowledgement workflow.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8412480" y="20574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SHOWS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8412480" y="233172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Aggregates from destinations, IAS SAML/OIDC, XSUAA trust configs, cTMS keys.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 ladder: notice (90d) → warn (30d) → critical (14d) → expired.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Per-engagement rotation-owner registry maps cert patterns to named humans.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Acknowledge-until workflow suppresses noise during planned rotation windows.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412480" y="42976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VALUE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8412480" y="457200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Prevents the kind of incident that becomes a referral story.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Universally relevant — every BTP customer has an expiring cert they don't know about.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Word-of-mouth multiplier: prevents one incident, sells the next three engagements.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BTP Architecture &amp; Governance Advisory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20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4008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80160" cy="64008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164592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4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 10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463040" y="118872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3 · CFO CONVERSATION · IMPLEMENTED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463040" y="29260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Landscape Cost-Allocation &amp; Showback Engine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29184" y="877824"/>
            <a:ext cx="7754112" cy="5010912"/>
          </a:xfrm>
          <a:prstGeom prst="rect">
            <a:avLst/>
          </a:prstGeom>
          <a:solidFill>
            <a:srgbClr val="D5DADD"/>
          </a:solidFill>
          <a:ln/>
        </p:spPr>
      </p:sp>
      <p:pic>
        <p:nvPicPr>
          <p:cNvPr id="8" name="Image 0" descr="/home/user/BTPadvisoryapps/_pitch-deck/screenshots/app10-costallo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914400"/>
            <a:ext cx="7680960" cy="49377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412480" y="91440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Moves the CFO from "show me costs" to "approved, here's the chargeback policy."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8412480" y="20574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SHOWS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8412480" y="233172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Hierarchical cost tree: BU → product → environment → subaccount.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Per-cost-center invoices generated from CIS labels.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Configurable shared-service allocation (XSUAA, audit log, IAS) with split rules.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Goes beyond BTPbilling's subaccount-flat view — full chargeback semantics.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412480" y="42976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VALUE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8412480" y="457200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Approval-grade reporting for IT chargeback to the business.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justifies the engagement on its own.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extension of BTPbilling — fastest tier-3 build.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BTP Architecture &amp; Governance Advisory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20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4008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80160" cy="64008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164592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4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 11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463040" y="118872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4 · SEPARATE STACK (S/4 + Cloud Connector) · IMPLEMENTED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463040" y="29260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Clean Core Compliance Dashboard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29184" y="877824"/>
            <a:ext cx="7754112" cy="5010912"/>
          </a:xfrm>
          <a:prstGeom prst="rect">
            <a:avLst/>
          </a:prstGeom>
          <a:solidFill>
            <a:srgbClr val="D5DADD"/>
          </a:solidFill>
          <a:ln/>
        </p:spPr>
      </p:sp>
      <p:pic>
        <p:nvPicPr>
          <p:cNvPr id="8" name="Image 0" descr="/home/user/BTPadvisoryapps/_pitch-deck/screenshots/app11-cleancor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914400"/>
            <a:ext cx="7680960" cy="49377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412480" y="91440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single most-asked question in any clean-core engagement — answered with code, not opinion.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8412480" y="20574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SHOWS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8412480" y="233172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Per-extension audit: unreleased SAP API usage, classic in-stack mods, ABAP Cloud violations.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each finding to SAP's side-by-side vs in-stack guidance.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architecture: requires Cloud Connector + ABAP scanner package transported into S/4.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CAP/UI5 frontend reused; data acquisition is bespoke per S/4 estate.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412480" y="42976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VALUE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8412480" y="457200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built when an engagement specifically scopes it — bills for the extra setup.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Most-asked question in clean-core conversations; nobody else has tooling for it.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swarm covers the *advisory* angle today; this app covers the *evidence* angle when needed.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BTP Architecture &amp; Governance Advisory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20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315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64592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ARCHITECTURE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329184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MTA shape. One auth pattern. Eleven apps.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548640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D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645920"/>
            <a:ext cx="4754880" cy="914400"/>
          </a:xfrm>
          <a:prstGeom prst="rect">
            <a:avLst/>
          </a:prstGeom>
          <a:solidFill>
            <a:srgbClr val="F8FAFC"/>
          </a:solidFill>
          <a:ln w="12700">
            <a:solidFill>
              <a:srgbClr val="D5DAD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645920"/>
            <a:ext cx="91440" cy="9144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175564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SAPUI5 1.120 freestyle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21488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tiles · table · Excel/PPTX export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22960" y="2697480"/>
            <a:ext cx="4754880" cy="914400"/>
          </a:xfrm>
          <a:prstGeom prst="rect">
            <a:avLst/>
          </a:prstGeom>
          <a:solidFill>
            <a:srgbClr val="F8FAFC"/>
          </a:solidFill>
          <a:ln w="12700">
            <a:solidFill>
              <a:srgbClr val="D5DAD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2697480"/>
            <a:ext cx="91440" cy="914400"/>
          </a:xfrm>
          <a:prstGeom prst="rect">
            <a:avLst/>
          </a:prstGeom>
          <a:solidFill>
            <a:srgbClr val="F4B942"/>
          </a:solidFill>
          <a:ln/>
        </p:spPr>
      </p:sp>
      <p:sp>
        <p:nvSpPr>
          <p:cNvPr id="12" name="Text 10"/>
          <p:cNvSpPr/>
          <p:nvPr/>
        </p:nvSpPr>
        <p:spPr>
          <a:xfrm>
            <a:off x="1051560" y="280720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CAP @sap/cds ^9 (Node.js)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51560" y="32004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OData v4 service · XSUAA roles · CDS persistence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22960" y="3749040"/>
            <a:ext cx="4754880" cy="914400"/>
          </a:xfrm>
          <a:prstGeom prst="rect">
            <a:avLst/>
          </a:prstGeom>
          <a:solidFill>
            <a:srgbClr val="F8FAFC"/>
          </a:solidFill>
          <a:ln w="12700">
            <a:solidFill>
              <a:srgbClr val="D5DAD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3749040"/>
            <a:ext cx="91440" cy="91440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385876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srv/lib (shared)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51560" y="42519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oauth-cache · cis-client · subaccount-clients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22960" y="4800600"/>
            <a:ext cx="4754880" cy="914400"/>
          </a:xfrm>
          <a:prstGeom prst="rect">
            <a:avLst/>
          </a:prstGeom>
          <a:solidFill>
            <a:srgbClr val="F8FAFC"/>
          </a:solidFill>
          <a:ln w="12700">
            <a:solidFill>
              <a:srgbClr val="D5DAD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2960" y="4800600"/>
            <a:ext cx="91440" cy="9144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/>
          <p:nvPr/>
        </p:nvSpPr>
        <p:spPr>
          <a:xfrm>
            <a:off x="1051560" y="491032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Customer BTP APIs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51560" y="530352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 · UAS · Audit Log · Destination · XSUAA Authz · IAS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00800" y="1280160"/>
            <a:ext cx="53035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D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629400" y="1554480"/>
            <a:ext cx="548640" cy="54864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4" name="Text 22"/>
          <p:cNvSpPr/>
          <p:nvPr/>
        </p:nvSpPr>
        <p:spPr>
          <a:xfrm>
            <a:off x="662940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7315200" y="14173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Leave-behind, not consultant-hosted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315200" y="178308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app deploys to the customer's own subaccount. They keep it after the engagement. No multitenancy, no data leaving their tenant.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2560320"/>
            <a:ext cx="53035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D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629400" y="2834640"/>
            <a:ext cx="548640" cy="54864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9" name="Text 27"/>
          <p:cNvSpPr/>
          <p:nvPr/>
        </p:nvSpPr>
        <p:spPr>
          <a:xfrm>
            <a:off x="6629400" y="2834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7315200" y="26974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Mock mode out of the box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315200" y="306324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app boots with rich mock data. Real data turns on the moment SUBACCOUNT_KEYS / IAS_* env vars are set.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400800" y="3840480"/>
            <a:ext cx="53035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D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629400" y="4114800"/>
            <a:ext cx="548640" cy="54864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4" name="Text 32"/>
          <p:cNvSpPr/>
          <p:nvPr/>
        </p:nvSpPr>
        <p:spPr>
          <a:xfrm>
            <a:off x="6629400" y="4114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7315200" y="397764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Per-clientid OAuth token cache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7315200" y="434340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proven token-cache pattern from BTPbilling. One implementation, shared across all apps.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400800" y="5120640"/>
            <a:ext cx="53035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DD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629400" y="5394960"/>
            <a:ext cx="548640" cy="54864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9" name="Text 37"/>
          <p:cNvSpPr/>
          <p:nvPr/>
        </p:nvSpPr>
        <p:spPr>
          <a:xfrm>
            <a:off x="6629400" y="5394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7315200" y="5257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XSUAA scope split: Viewer / Admin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7315200" y="562356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access for workshop attendees; tuning rights for the lead architect during the engagement.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BTP Architecture &amp; Governance Advisory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20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315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64592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ENGAGEMENT TIMELINE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329184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4-week engagement that ships something on day five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651760"/>
            <a:ext cx="11064240" cy="0"/>
          </a:xfrm>
          <a:prstGeom prst="line">
            <a:avLst/>
          </a:prstGeom>
          <a:noFill/>
          <a:ln w="38100">
            <a:solidFill>
              <a:srgbClr val="1E27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748790" y="2468880"/>
            <a:ext cx="365760" cy="365760"/>
          </a:xfrm>
          <a:prstGeom prst="ellipse">
            <a:avLst/>
          </a:prstGeom>
          <a:solidFill>
            <a:srgbClr val="F96167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74879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965960"/>
            <a:ext cx="27660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4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85800" y="3200400"/>
            <a:ext cx="24917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Discover &amp; deploy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" y="3749040"/>
            <a:ext cx="24003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up apps #1, #2, #3 in customer's lab subaccount. SUBACCOUNT_KEYS configured. Live data on day five.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14850" y="2468880"/>
            <a:ext cx="365760" cy="365760"/>
          </a:xfrm>
          <a:prstGeom prst="ellipse">
            <a:avLst/>
          </a:prstGeom>
          <a:solidFill>
            <a:srgbClr val="F96167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1485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314700" y="1965960"/>
            <a:ext cx="27660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4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451860" y="3200400"/>
            <a:ext cx="24917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Workshop &amp; assess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497580" y="3749040"/>
            <a:ext cx="24003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Compliance Scorecard with stakeholders. Tune rules to the customer's standards. Snapshot the day-one baseline.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280910" y="2468880"/>
            <a:ext cx="365760" cy="365760"/>
          </a:xfrm>
          <a:prstGeom prst="ellipse">
            <a:avLst/>
          </a:prstGeom>
          <a:solidFill>
            <a:srgbClr val="F96167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28091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080760" y="1965960"/>
            <a:ext cx="27660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4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217920" y="3200400"/>
            <a:ext cx="24917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Recommend &amp; remediate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263640" y="3749040"/>
            <a:ext cx="24003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 backlog of high-impact fixes. Customer team executes; we shadow. Apps #4, #5, #9 brought online for security/cert review.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0046970" y="2468880"/>
            <a:ext cx="365760" cy="365760"/>
          </a:xfrm>
          <a:prstGeom prst="ellipse">
            <a:avLst/>
          </a:prstGeom>
          <a:solidFill>
            <a:srgbClr val="F96167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4697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846820" y="1965960"/>
            <a:ext cx="27660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4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983980" y="3200400"/>
            <a:ext cx="24917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Hand-over &amp; QBR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9029700" y="3749040"/>
            <a:ext cx="24003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Snapshot the after-state. Generate the "before vs after" deliverable. Hand over MTA repos + runbook. Schedule next QBR.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typical traditional advisory engagement spends weeks 1-3 on interviews. Ours spends week 1 building reality.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BTP Architecture &amp; Governance Advisory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20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315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64592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PER-APP DEPLOYMENT TIME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329184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long the apps take to deploy into a customer tenant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7955280" cy="5029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298448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14400" y="129844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291840" y="1298448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840480" y="1298448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time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212080" y="129844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drives it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691640"/>
            <a:ext cx="795528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D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1755648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14400" y="175564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Subaccount Lifecycle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291840" y="1755648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840480" y="175564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1.5 hr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212080" y="1755648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 + Audit Log keys per subaccount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2020824"/>
            <a:ext cx="7955280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D5DAD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2084832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14400" y="208483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Destination Inventory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291840" y="2084832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840480" y="208483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hr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212080" y="208483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DESTINATION_KEYS array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2350008"/>
            <a:ext cx="795528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D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2414016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14400" y="2414016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Scorecard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291840" y="2414016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840480" y="2414016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 min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212080" y="2414016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Reuses #1+#2 data; rule editing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57200" y="2679192"/>
            <a:ext cx="7955280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D5DAD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2743200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14400" y="274320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Federation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291840" y="274320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3840480" y="2743200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hr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212080" y="274320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IAS "API access" app + scope grants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57200" y="3008376"/>
            <a:ext cx="795528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" y="3072384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914400" y="307238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Role-Collection Map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3291840" y="3072384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3840480" y="3072384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1.5 hr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5212080" y="3072384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Per-subaccount XSUAA apiaccess keys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57200" y="3337560"/>
            <a:ext cx="7955280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D5DAD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48640" y="3401568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914400" y="340156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Audit-Log Console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3291840" y="3401568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3840480" y="340156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hr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5212080" y="3401568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audit-log-management instance per subaccount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457200" y="3666744"/>
            <a:ext cx="795528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DD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48640" y="3730752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914400" y="373075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Entitlement Optimization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3291840" y="3730752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3840480" y="373075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hr + seed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5212080" y="373075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UAS bound; +3h to seed ContractAnchors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457200" y="3995928"/>
            <a:ext cx="7955280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D5DADD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48640" y="4059936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914400" y="4059936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Governance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3291840" y="4059936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T3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3840480" y="4059936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hr</a:t>
            </a:r>
            <a:endParaRPr lang="en-US" sz="1200" dirty="0"/>
          </a:p>
        </p:txBody>
      </p:sp>
      <p:sp>
        <p:nvSpPr>
          <p:cNvPr id="58" name="Text 56"/>
          <p:cNvSpPr/>
          <p:nvPr/>
        </p:nvSpPr>
        <p:spPr>
          <a:xfrm>
            <a:off x="5212080" y="4059936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Core service-key + OAuth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457200" y="4325112"/>
            <a:ext cx="795528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DD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48640" y="4389120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914400" y="438912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 Expiry Console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3291840" y="438912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T3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3840480" y="4389120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 min</a:t>
            </a:r>
            <a:endParaRPr lang="en-US" sz="1200" dirty="0"/>
          </a:p>
        </p:txBody>
      </p:sp>
      <p:sp>
        <p:nvSpPr>
          <p:cNvPr id="64" name="Text 62"/>
          <p:cNvSpPr/>
          <p:nvPr/>
        </p:nvSpPr>
        <p:spPr>
          <a:xfrm>
            <a:off x="5212080" y="438912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Reuses DESTINATION_KEYS + IAS keys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457200" y="4654296"/>
            <a:ext cx="7955280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D5DADD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48640" y="4718304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914400" y="471830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Allocation &amp; Showback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3291840" y="4718304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T3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3840480" y="4718304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hr + seed</a:t>
            </a:r>
            <a:endParaRPr lang="en-US" sz="1200" dirty="0"/>
          </a:p>
        </p:txBody>
      </p:sp>
      <p:sp>
        <p:nvSpPr>
          <p:cNvPr id="70" name="Text 68"/>
          <p:cNvSpPr/>
          <p:nvPr/>
        </p:nvSpPr>
        <p:spPr>
          <a:xfrm>
            <a:off x="5212080" y="4718304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UAS bound; +3h to import org hierarchy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457200" y="4983480"/>
            <a:ext cx="795528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DD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48640" y="5047488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73" name="Text 71"/>
          <p:cNvSpPr/>
          <p:nvPr/>
        </p:nvSpPr>
        <p:spPr>
          <a:xfrm>
            <a:off x="914400" y="504748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Core Compliance</a:t>
            </a:r>
            <a:endParaRPr lang="en-US" sz="1100" dirty="0"/>
          </a:p>
        </p:txBody>
      </p:sp>
      <p:sp>
        <p:nvSpPr>
          <p:cNvPr id="74" name="Text 72"/>
          <p:cNvSpPr/>
          <p:nvPr/>
        </p:nvSpPr>
        <p:spPr>
          <a:xfrm>
            <a:off x="3291840" y="5047488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T4</a:t>
            </a:r>
            <a:endParaRPr lang="en-US" sz="1100" dirty="0"/>
          </a:p>
        </p:txBody>
      </p:sp>
      <p:sp>
        <p:nvSpPr>
          <p:cNvPr id="75" name="Text 73"/>
          <p:cNvSpPr/>
          <p:nvPr/>
        </p:nvSpPr>
        <p:spPr>
          <a:xfrm>
            <a:off x="3840480" y="504748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day</a:t>
            </a:r>
            <a:endParaRPr lang="en-US" sz="1200" dirty="0"/>
          </a:p>
        </p:txBody>
      </p:sp>
      <p:sp>
        <p:nvSpPr>
          <p:cNvPr id="76" name="Text 74"/>
          <p:cNvSpPr/>
          <p:nvPr/>
        </p:nvSpPr>
        <p:spPr>
          <a:xfrm>
            <a:off x="5212080" y="5047488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ABAP transport + Cloud Connector + virtual host</a:t>
            </a:r>
            <a:endParaRPr lang="en-US" sz="1100" dirty="0"/>
          </a:p>
        </p:txBody>
      </p:sp>
      <p:sp>
        <p:nvSpPr>
          <p:cNvPr id="77" name="Shape 75"/>
          <p:cNvSpPr/>
          <p:nvPr/>
        </p:nvSpPr>
        <p:spPr>
          <a:xfrm>
            <a:off x="8686800" y="1188720"/>
            <a:ext cx="3017520" cy="49377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78" name="Shape 76"/>
          <p:cNvSpPr/>
          <p:nvPr/>
        </p:nvSpPr>
        <p:spPr>
          <a:xfrm>
            <a:off x="8686800" y="1188720"/>
            <a:ext cx="3017520" cy="91440"/>
          </a:xfrm>
          <a:prstGeom prst="rect">
            <a:avLst/>
          </a:prstGeom>
          <a:solidFill>
            <a:srgbClr val="F4B942"/>
          </a:solidFill>
          <a:ln/>
        </p:spPr>
      </p:sp>
      <p:sp>
        <p:nvSpPr>
          <p:cNvPr id="79" name="Text 77"/>
          <p:cNvSpPr/>
          <p:nvPr/>
        </p:nvSpPr>
        <p:spPr>
          <a:xfrm>
            <a:off x="8961120" y="13716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4B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ENGAGEMENT-LEVEL TOTALS</a:t>
            </a:r>
            <a:endParaRPr lang="en-US" sz="1000" dirty="0"/>
          </a:p>
        </p:txBody>
      </p:sp>
      <p:sp>
        <p:nvSpPr>
          <p:cNvPr id="80" name="Text 78"/>
          <p:cNvSpPr/>
          <p:nvPr/>
        </p:nvSpPr>
        <p:spPr>
          <a:xfrm>
            <a:off x="8961120" y="178308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Day-1 demo (#1 only)</a:t>
            </a:r>
            <a:endParaRPr lang="en-US" sz="1200" dirty="0"/>
          </a:p>
        </p:txBody>
      </p:sp>
      <p:sp>
        <p:nvSpPr>
          <p:cNvPr id="81" name="Text 79"/>
          <p:cNvSpPr/>
          <p:nvPr/>
        </p:nvSpPr>
        <p:spPr>
          <a:xfrm>
            <a:off x="8961120" y="207568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B9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90 min</a:t>
            </a:r>
            <a:endParaRPr lang="en-US" sz="1600" dirty="0"/>
          </a:p>
        </p:txBody>
      </p:sp>
      <p:sp>
        <p:nvSpPr>
          <p:cNvPr id="82" name="Text 80"/>
          <p:cNvSpPr/>
          <p:nvPr/>
        </p:nvSpPr>
        <p:spPr>
          <a:xfrm>
            <a:off x="8961120" y="233172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app against the customer's lab subaccount inside 90 minutes.</a:t>
            </a:r>
            <a:endParaRPr lang="en-US" sz="1000" dirty="0"/>
          </a:p>
        </p:txBody>
      </p:sp>
      <p:sp>
        <p:nvSpPr>
          <p:cNvPr id="83" name="Text 81"/>
          <p:cNvSpPr/>
          <p:nvPr/>
        </p:nvSpPr>
        <p:spPr>
          <a:xfrm>
            <a:off x="8961120" y="269748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1 pilot (#1, #2, #3)</a:t>
            </a:r>
            <a:endParaRPr lang="en-US" sz="1200" dirty="0"/>
          </a:p>
        </p:txBody>
      </p:sp>
      <p:sp>
        <p:nvSpPr>
          <p:cNvPr id="84" name="Text 82"/>
          <p:cNvSpPr/>
          <p:nvPr/>
        </p:nvSpPr>
        <p:spPr>
          <a:xfrm>
            <a:off x="8961120" y="299008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B9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hr</a:t>
            </a:r>
            <a:endParaRPr lang="en-US" sz="1600" dirty="0"/>
          </a:p>
        </p:txBody>
      </p:sp>
      <p:sp>
        <p:nvSpPr>
          <p:cNvPr id="85" name="Text 83"/>
          <p:cNvSpPr/>
          <p:nvPr/>
        </p:nvSpPr>
        <p:spPr>
          <a:xfrm>
            <a:off x="8961120" y="324612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IP-centerpiece scorecard live; ready for the first workshop.</a:t>
            </a:r>
            <a:endParaRPr lang="en-US" sz="1000" dirty="0"/>
          </a:p>
        </p:txBody>
      </p:sp>
      <p:sp>
        <p:nvSpPr>
          <p:cNvPr id="86" name="Text 84"/>
          <p:cNvSpPr/>
          <p:nvPr/>
        </p:nvSpPr>
        <p:spPr>
          <a:xfrm>
            <a:off x="8961120" y="361188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First-wave engagement (#1–#5, #9)</a:t>
            </a:r>
            <a:endParaRPr lang="en-US" sz="1200" dirty="0"/>
          </a:p>
        </p:txBody>
      </p:sp>
      <p:sp>
        <p:nvSpPr>
          <p:cNvPr id="87" name="Text 85"/>
          <p:cNvSpPr/>
          <p:nvPr/>
        </p:nvSpPr>
        <p:spPr>
          <a:xfrm>
            <a:off x="8961120" y="390448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~1 day</a:t>
            </a:r>
            <a:endParaRPr lang="en-US" sz="1600" dirty="0"/>
          </a:p>
        </p:txBody>
      </p:sp>
      <p:sp>
        <p:nvSpPr>
          <p:cNvPr id="88" name="Text 86"/>
          <p:cNvSpPr/>
          <p:nvPr/>
        </p:nvSpPr>
        <p:spPr>
          <a:xfrm>
            <a:off x="8961120" y="416052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five apps + cert expiry. Sells as a 4-week engagement.</a:t>
            </a:r>
            <a:endParaRPr lang="en-US" sz="1000" dirty="0"/>
          </a:p>
        </p:txBody>
      </p:sp>
      <p:sp>
        <p:nvSpPr>
          <p:cNvPr id="89" name="Text 87"/>
          <p:cNvSpPr/>
          <p:nvPr/>
        </p:nvSpPr>
        <p:spPr>
          <a:xfrm>
            <a:off x="8961120" y="452628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Full BTP-native (#1–#10)</a:t>
            </a:r>
            <a:endParaRPr lang="en-US" sz="1200" dirty="0"/>
          </a:p>
        </p:txBody>
      </p:sp>
      <p:sp>
        <p:nvSpPr>
          <p:cNvPr id="90" name="Text 88"/>
          <p:cNvSpPr/>
          <p:nvPr/>
        </p:nvSpPr>
        <p:spPr>
          <a:xfrm>
            <a:off x="8961120" y="481888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days + seed</a:t>
            </a:r>
            <a:endParaRPr lang="en-US" sz="1600" dirty="0"/>
          </a:p>
        </p:txBody>
      </p:sp>
      <p:sp>
        <p:nvSpPr>
          <p:cNvPr id="91" name="Text 89"/>
          <p:cNvSpPr/>
          <p:nvPr/>
        </p:nvSpPr>
        <p:spPr>
          <a:xfrm>
            <a:off x="8961120" y="507492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except Clean Core. Add 6 hours seeding contract anchors and org hierarchy.</a:t>
            </a:r>
            <a:endParaRPr lang="en-US" sz="1000" dirty="0"/>
          </a:p>
        </p:txBody>
      </p:sp>
      <p:sp>
        <p:nvSpPr>
          <p:cNvPr id="92" name="Text 90"/>
          <p:cNvSpPr/>
          <p:nvPr/>
        </p:nvSpPr>
        <p:spPr>
          <a:xfrm>
            <a:off x="8961120" y="544068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Full arsenal incl. #11</a:t>
            </a:r>
            <a:endParaRPr lang="en-US" sz="1200" dirty="0"/>
          </a:p>
        </p:txBody>
      </p:sp>
      <p:sp>
        <p:nvSpPr>
          <p:cNvPr id="93" name="Text 91"/>
          <p:cNvSpPr/>
          <p:nvPr/>
        </p:nvSpPr>
        <p:spPr>
          <a:xfrm>
            <a:off x="8961120" y="573328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3–4 days</a:t>
            </a:r>
            <a:endParaRPr lang="en-US" sz="1600" dirty="0"/>
          </a:p>
        </p:txBody>
      </p:sp>
      <p:sp>
        <p:nvSpPr>
          <p:cNvPr id="94" name="Text 92"/>
          <p:cNvSpPr/>
          <p:nvPr/>
        </p:nvSpPr>
        <p:spPr>
          <a:xfrm>
            <a:off x="8961120" y="598932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1 day for ABAP scanner transport + Cloud Connector wiring.</a:t>
            </a:r>
            <a:endParaRPr lang="en-US" sz="1000" dirty="0"/>
          </a:p>
        </p:txBody>
      </p:sp>
      <p:sp>
        <p:nvSpPr>
          <p:cNvPr id="95" name="Text 93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BTP Architecture &amp; Governance Advisory</a:t>
            </a:r>
            <a:endParaRPr lang="en-US" sz="900" dirty="0"/>
          </a:p>
        </p:txBody>
      </p:sp>
      <p:sp>
        <p:nvSpPr>
          <p:cNvPr id="96" name="Text 94"/>
          <p:cNvSpPr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20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315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64592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329184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things nobody else in the BTP advisory space ships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3566160" cy="42062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463040"/>
            <a:ext cx="3566160" cy="9144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82880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4B9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 apps</a:t>
            </a:r>
            <a:endParaRPr lang="en-US" sz="5600" dirty="0"/>
          </a:p>
        </p:txBody>
      </p:sp>
      <p:sp>
        <p:nvSpPr>
          <p:cNvPr id="8" name="Text 6"/>
          <p:cNvSpPr/>
          <p:nvPr/>
        </p:nvSpPr>
        <p:spPr>
          <a:xfrm>
            <a:off x="731520" y="28346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shipping today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33832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Operational tooling, not narrative deliverables.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31520" y="438912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other BTP advisory practice walks out with a Word doc. We walk out with an MTA archive in production.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297680" y="1463040"/>
            <a:ext cx="3566160" cy="42062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2" name="Shape 10"/>
          <p:cNvSpPr/>
          <p:nvPr/>
        </p:nvSpPr>
        <p:spPr>
          <a:xfrm>
            <a:off x="4297680" y="1463040"/>
            <a:ext cx="3566160" cy="9144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0" y="182880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4B9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MTA</a:t>
            </a:r>
            <a:endParaRPr lang="en-US" sz="5600" dirty="0"/>
          </a:p>
        </p:txBody>
      </p:sp>
      <p:sp>
        <p:nvSpPr>
          <p:cNvPr id="14" name="Text 12"/>
          <p:cNvSpPr/>
          <p:nvPr/>
        </p:nvSpPr>
        <p:spPr>
          <a:xfrm>
            <a:off x="4572000" y="28346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productized arsenal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0" y="33832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skeleton, not a reinvented wheel.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572000" y="438912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MTA shape, same auth, same shared srv/lib across the 10 BTP-native apps. Every engagement compounds onto the next.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138160" y="1463040"/>
            <a:ext cx="3566160" cy="42062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8" name="Shape 16"/>
          <p:cNvSpPr/>
          <p:nvPr/>
        </p:nvSpPr>
        <p:spPr>
          <a:xfrm>
            <a:off x="8138160" y="1463040"/>
            <a:ext cx="3566160" cy="9144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19" name="Text 17"/>
          <p:cNvSpPr/>
          <p:nvPr/>
        </p:nvSpPr>
        <p:spPr>
          <a:xfrm>
            <a:off x="8412480" y="182880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4B9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&lt; 2 hr</a:t>
            </a:r>
            <a:endParaRPr lang="en-US" sz="5600" dirty="0"/>
          </a:p>
        </p:txBody>
      </p:sp>
      <p:sp>
        <p:nvSpPr>
          <p:cNvPr id="20" name="Text 18"/>
          <p:cNvSpPr/>
          <p:nvPr/>
        </p:nvSpPr>
        <p:spPr>
          <a:xfrm>
            <a:off x="8412480" y="28346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per-app per-client deploy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412480" y="33832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delivery team that scales with the practice.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8412480" y="438912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delivery colleague who has not built the app can deploy it cold in under 2 hours from the runbook. Not bound to one Architect.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BTP Architecture &amp; Governance Advisory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20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1A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92240"/>
            <a:ext cx="12161520" cy="36576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1887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881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Pick one subaccount.</a:t>
            </a:r>
            <a:endParaRPr lang="en-US" sz="4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See what we find in 90 minutes.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640080" y="4206240"/>
            <a:ext cx="3444240" cy="1737360"/>
          </a:xfrm>
          <a:prstGeom prst="rect">
            <a:avLst/>
          </a:prstGeom>
          <a:solidFill>
            <a:srgbClr val="1E2761"/>
          </a:solidFill>
          <a:ln w="12700">
            <a:solidFill>
              <a:srgbClr val="283A6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4370832"/>
            <a:ext cx="298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B9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Discovery workshop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4754880"/>
            <a:ext cx="298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90-minute remote session against one of your customer's lab subaccounts. We arrive with the apps already running. You see findings live.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58640" y="4206240"/>
            <a:ext cx="3444240" cy="1737360"/>
          </a:xfrm>
          <a:prstGeom prst="rect">
            <a:avLst/>
          </a:prstGeom>
          <a:solidFill>
            <a:srgbClr val="1E2761"/>
          </a:solidFill>
          <a:ln w="12700">
            <a:solidFill>
              <a:srgbClr val="283A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87240" y="4370832"/>
            <a:ext cx="298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B9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4-week pilot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87240" y="4754880"/>
            <a:ext cx="298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scoped pilot engagement: apps #1, #2, #3 deployed to the customer's tenant, before/after snapshot, hand-over runbook.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77200" y="4206240"/>
            <a:ext cx="3444240" cy="1737360"/>
          </a:xfrm>
          <a:prstGeom prst="rect">
            <a:avLst/>
          </a:prstGeom>
          <a:solidFill>
            <a:srgbClr val="1E2761"/>
          </a:solidFill>
          <a:ln w="12700">
            <a:solidFill>
              <a:srgbClr val="283A6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05800" y="4370832"/>
            <a:ext cx="298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B9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Practice partnership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05800" y="4754880"/>
            <a:ext cx="298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White-label the arsenal under your brand. We co-own the roadmap. Customers see one consultant, you keep the relationship.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BTP Advisory Apps Arsenal</dc:title>
  <dc:subject>PptxGenJS Presentation</dc:subject>
  <dc:creator>BTP Architecture &amp; Governance Advisory</dc:creator>
  <cp:lastModifiedBy>BTP Architecture &amp; Governance Advisory</cp:lastModifiedBy>
  <cp:revision>1</cp:revision>
  <dcterms:created xsi:type="dcterms:W3CDTF">2026-05-16T19:16:44Z</dcterms:created>
  <dcterms:modified xsi:type="dcterms:W3CDTF">2026-05-16T19:16:44Z</dcterms:modified>
</cp:coreProperties>
</file>